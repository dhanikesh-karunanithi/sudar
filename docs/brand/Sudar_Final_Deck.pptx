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dar Logo_transparent 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32004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Sudar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D166"/>
                </a:solidFill>
              </a:rPr>
              <a:t>The Operating System for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102412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Learns with you, for you.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AI-native learning platform with longitudinal learner memory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Final integrated brand and product narrative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217920"/>
            <a:ext cx="10972800" cy="9144"/>
          </a:xfrm>
          <a:prstGeom prst="rect">
            <a:avLst/>
          </a:prstGeom>
          <a:solidFill>
            <a:srgbClr val="5E5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D166"/>
                </a:solidFill>
              </a:defRPr>
            </a:pPr>
            <a:r>
              <a:t>April 2026 | Founder/Product Vision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dar Logo_transparent 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32004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2F2A8A"/>
                </a:solidFill>
              </a:rPr>
              <a:t>Why Sudar,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F6982"/>
                </a:solidFill>
              </a:rPr>
              <a:t>From one-size-fits-all training to persistent personalization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Most LMS platforms track completion, but do not remember learners.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Teams need measurable outcomes without large production budgets.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Sudar closes the gap with adaptive delivery + memory-aware tutoring.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217920"/>
            <a:ext cx="10972800" cy="9144"/>
          </a:xfrm>
          <a:prstGeom prst="rect">
            <a:avLst/>
          </a:prstGeom>
          <a:solidFill>
            <a:srgbClr val="DC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82"/>
                </a:solidFill>
              </a:defRPr>
            </a:pPr>
            <a:r>
              <a:t>Sudar | Final Brand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dar Logo_transparent 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32004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2F2A8A"/>
                </a:solidFill>
              </a:rPr>
              <a:t>Brand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Mission: Democratize high-quality personalized learning.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Promise: Learning that remembers each learner and adapts in real time.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Strategic position: Speed + Evidence + Memory-aware personalization.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Voice: Human, clear, outcome-first, claim-safe.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217920"/>
            <a:ext cx="10972800" cy="9144"/>
          </a:xfrm>
          <a:prstGeom prst="rect">
            <a:avLst/>
          </a:prstGeom>
          <a:solidFill>
            <a:srgbClr val="DC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82"/>
                </a:solidFill>
              </a:defRPr>
            </a:pPr>
            <a:r>
              <a:t>Sudar | Final Brand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dar Logo_transparent 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32004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2F2A8A"/>
                </a:solidFill>
              </a:rPr>
              <a:t>Logo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F6982"/>
                </a:solidFill>
              </a:rPr>
              <a:t>A symbol that maps directly to Sudar's product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“=” represents equal access to high-quality learning.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Dynamic motion forms the “S” for learning flow.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Center AI star/flame represents adaptive intelligence.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Visual expression: premium-minimal with warm-human cues.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217920"/>
            <a:ext cx="10972800" cy="9144"/>
          </a:xfrm>
          <a:prstGeom prst="rect">
            <a:avLst/>
          </a:prstGeom>
          <a:solidFill>
            <a:srgbClr val="DC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82"/>
                </a:solidFill>
              </a:defRPr>
            </a:pPr>
            <a:r>
              <a:t>Sudar | Final Brand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dar Logo_transparent 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32004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2F2A8A"/>
                </a:solidFill>
              </a:rPr>
              <a:t>Three Surfaces, One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Sudar Studio: rapid authoring, path orchestration, admin workflows.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Sudar Learn: learner-first experience with modality flexibility.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Sudar Intelligence: adaptive engine, next-best-action, tutor memory.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Shared Supabase layer unifies profiles, events, and personalization.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217920"/>
            <a:ext cx="10972800" cy="9144"/>
          </a:xfrm>
          <a:prstGeom prst="rect">
            <a:avLst/>
          </a:prstGeom>
          <a:solidFill>
            <a:srgbClr val="DC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82"/>
                </a:solidFill>
              </a:defRPr>
            </a:pPr>
            <a:r>
              <a:t>Sudar | Final Brand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dar Logo_transparent 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32004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2F2A8A"/>
                </a:solidFill>
              </a:rPr>
              <a:t>What Makes Sudar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Digital Learner Twin stores longitudinal behavior and preferences.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Sudar tutor is reactive and proactive, with cross-session memory.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Author once, deliver across modalities (text, flashcards, video, audio, etc.).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ALP direction supports augmentation of existing LMS ecosystems.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217920"/>
            <a:ext cx="10972800" cy="9144"/>
          </a:xfrm>
          <a:prstGeom prst="rect">
            <a:avLst/>
          </a:prstGeom>
          <a:solidFill>
            <a:srgbClr val="DC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82"/>
                </a:solidFill>
              </a:defRPr>
            </a:pPr>
            <a:r>
              <a:t>Sudar | Final Brand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dar Logo_transparent 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32004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2F2A8A"/>
                </a:solidFill>
              </a:rPr>
              <a:t>Who This Is For (Next 90 Days)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L&amp;D Managers: launch effective training quickly with lean teams.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HR/Talent Leaders: connect learning programs to workforce outcomes.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</a:defRPr>
            </a:pPr>
            <a:r>
              <a:t>Shared message: Build faster, personalize by default, prove progress.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217920"/>
            <a:ext cx="10972800" cy="9144"/>
          </a:xfrm>
          <a:prstGeom prst="rect">
            <a:avLst/>
          </a:prstGeom>
          <a:solidFill>
            <a:srgbClr val="DC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82"/>
                </a:solidFill>
              </a:defRPr>
            </a:pPr>
            <a:r>
              <a:t>Sudar | Final Brand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dar Logo_transparent 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32004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Proof Stack and Claim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Validated: shipped architecture and documented capabilities.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Evidence-informed: design grounded in adaptive learning research.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Future-work: pilots and roadmap claims clearly marked as planned.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Outcome: ambitious narrative with high trust and low hype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217920"/>
            <a:ext cx="10972800" cy="9144"/>
          </a:xfrm>
          <a:prstGeom prst="rect">
            <a:avLst/>
          </a:prstGeom>
          <a:solidFill>
            <a:srgbClr val="5E5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D166"/>
                </a:solidFill>
              </a:defRPr>
            </a:pPr>
            <a:r>
              <a:t>Sudar | Final Brand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dar Logo_transparent 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32004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2F2A8A"/>
                </a:solidFill>
              </a:rPr>
              <a:t>Visual System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F6982"/>
                </a:solidFill>
              </a:rPr>
              <a:t>Option A palette + typography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217920"/>
            <a:ext cx="10972800" cy="9144"/>
          </a:xfrm>
          <a:prstGeom prst="rect">
            <a:avLst/>
          </a:prstGeom>
          <a:solidFill>
            <a:srgbClr val="DC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82"/>
                </a:solidFill>
              </a:defRPr>
            </a:pPr>
            <a:r>
              <a:t>Design tokens: docs/brand/design-tokens-v1.md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03120"/>
            <a:ext cx="1645920" cy="1005840"/>
          </a:xfrm>
          <a:prstGeom prst="rect">
            <a:avLst/>
          </a:prstGeom>
          <a:solidFill>
            <a:srgbClr val="2F2A8A"/>
          </a:solidFill>
          <a:ln>
            <a:solidFill>
              <a:srgbClr val="DC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202C"/>
                </a:solidFill>
              </a:defRPr>
            </a:pPr>
            <a:r>
              <a:t>Indigo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39" y="2103120"/>
            <a:ext cx="1645920" cy="1005840"/>
          </a:xfrm>
          <a:prstGeom prst="rect">
            <a:avLst/>
          </a:prstGeom>
          <a:solidFill>
            <a:srgbClr val="5E5AD7"/>
          </a:solidFill>
          <a:ln>
            <a:solidFill>
              <a:srgbClr val="DC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32004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202C"/>
                </a:solidFill>
              </a:defRPr>
            </a:pPr>
            <a:r>
              <a:t>Indigo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2103120"/>
            <a:ext cx="1645920" cy="1005840"/>
          </a:xfrm>
          <a:prstGeom prst="rect">
            <a:avLst/>
          </a:prstGeom>
          <a:solidFill>
            <a:srgbClr val="FF7A45"/>
          </a:solidFill>
          <a:ln>
            <a:solidFill>
              <a:srgbClr val="DC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32004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202C"/>
                </a:solidFill>
              </a:defRPr>
            </a:pPr>
            <a:r>
              <a:t>Ember Accent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977639"/>
            <a:ext cx="1645920" cy="1005840"/>
          </a:xfrm>
          <a:prstGeom prst="rect">
            <a:avLst/>
          </a:prstGeom>
          <a:solidFill>
            <a:srgbClr val="FFD166"/>
          </a:solidFill>
          <a:ln>
            <a:solidFill>
              <a:srgbClr val="DC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202C"/>
                </a:solidFill>
              </a:defRPr>
            </a:pPr>
            <a:r>
              <a:t>Warm Highlight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39" y="3977639"/>
            <a:ext cx="1645920" cy="1005840"/>
          </a:xfrm>
          <a:prstGeom prst="rect">
            <a:avLst/>
          </a:prstGeom>
          <a:solidFill>
            <a:srgbClr val="0D1026"/>
          </a:solidFill>
          <a:ln>
            <a:solidFill>
              <a:srgbClr val="DC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39" y="50749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202C"/>
                </a:solidFill>
              </a:defRPr>
            </a:pPr>
            <a:r>
              <a:t>Deep Night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3977639"/>
            <a:ext cx="1645920" cy="1005840"/>
          </a:xfrm>
          <a:prstGeom prst="rect">
            <a:avLst/>
          </a:prstGeom>
          <a:solidFill>
            <a:srgbClr val="F7F8FC"/>
          </a:solidFill>
          <a:ln>
            <a:solidFill>
              <a:srgbClr val="DC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50749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202C"/>
                </a:solidFill>
              </a:defRPr>
            </a:pPr>
            <a:r>
              <a:t>Soft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148840"/>
            <a:ext cx="44805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F2A8A"/>
                </a:solidFill>
              </a:defRPr>
            </a:pPr>
            <a:r>
              <a:t>Typography</a:t>
            </a:r>
          </a:p>
          <a:p>
            <a:pPr>
              <a:spcAft>
                <a:spcPts val="400"/>
              </a:spcAft>
              <a:defRPr sz="1800">
                <a:solidFill>
                  <a:srgbClr val="1A202C"/>
                </a:solidFill>
              </a:defRPr>
            </a:pPr>
            <a:r>
              <a:t>Headlines: Manrope</a:t>
            </a:r>
          </a:p>
          <a:p>
            <a:pPr>
              <a:spcAft>
                <a:spcPts val="400"/>
              </a:spcAft>
              <a:defRPr sz="1800">
                <a:solidFill>
                  <a:srgbClr val="1A202C"/>
                </a:solidFill>
              </a:defRPr>
            </a:pPr>
            <a:r>
              <a:t>UI / Body: Inter</a:t>
            </a:r>
          </a:p>
          <a:p>
            <a:pPr>
              <a:spcAft>
                <a:spcPts val="400"/>
              </a:spcAft>
              <a:defRPr sz="1800">
                <a:solidFill>
                  <a:srgbClr val="1A202C"/>
                </a:solidFill>
              </a:defRPr>
            </a:pPr>
            <a:r>
              <a:t>4/8 spacing rhythm, rounded surfaces,</a:t>
            </a:r>
          </a:p>
          <a:p>
            <a:pPr>
              <a:spcAft>
                <a:spcPts val="400"/>
              </a:spcAft>
              <a:defRPr sz="1800">
                <a:solidFill>
                  <a:srgbClr val="1A202C"/>
                </a:solidFill>
              </a:defRPr>
            </a:pPr>
            <a:r>
              <a:t>light + dark theme parity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dar Logo_transparent 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32004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Final Product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D166"/>
                </a:solidFill>
              </a:rPr>
              <a:t>Build faster. Teach better. Learn personally.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Sudar becomes the adaptive learning operating system for modern organizations.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The platform remembers each learner, not just their completions.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Teams can author once, personalize continuously, and scale outcomes responsibly.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Brand, product, and research are now unified under one clear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217920"/>
            <a:ext cx="10972800" cy="9144"/>
          </a:xfrm>
          <a:prstGeom prst="rect">
            <a:avLst/>
          </a:prstGeom>
          <a:solidFill>
            <a:srgbClr val="5E5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D166"/>
                </a:solidFill>
              </a:defRPr>
            </a:pPr>
            <a:r>
              <a:t>Sudar | Learns with you, for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